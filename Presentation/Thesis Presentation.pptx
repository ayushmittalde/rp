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7">
          <p15:clr>
            <a:srgbClr val="A4A3A4"/>
          </p15:clr>
        </p15:guide>
        <p15:guide id="2" orient="horz" pos="3207">
          <p15:clr>
            <a:srgbClr val="A4A3A4"/>
          </p15:clr>
        </p15:guide>
        <p15:guide id="3" pos="295">
          <p15:clr>
            <a:srgbClr val="A4A3A4"/>
          </p15:clr>
        </p15:guide>
        <p15:guide id="4" pos="54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5" autoAdjust="0"/>
    <p:restoredTop sz="94764" autoAdjust="0"/>
  </p:normalViewPr>
  <p:slideViewPr>
    <p:cSldViewPr snapToGrid="0">
      <p:cViewPr varScale="1">
        <p:scale>
          <a:sx n="89" d="100"/>
          <a:sy n="89" d="100"/>
        </p:scale>
        <p:origin x="1190" y="82"/>
      </p:cViewPr>
      <p:guideLst>
        <p:guide orient="horz" pos="1007"/>
        <p:guide orient="horz" pos="3207"/>
        <p:guide pos="295"/>
        <p:guide pos="54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313" y="243069"/>
            <a:ext cx="5903912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en-US" b="1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483506" y="8777812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8C6DC171-2E2C-4217-B929-84D992C27123}" type="datetime1">
              <a:rPr lang="de-DE" sz="800" smtClean="0"/>
              <a:t>21.02.2026</a:t>
            </a:fld>
            <a:endParaRPr lang="en-US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68313" y="8777813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r>
              <a:rPr lang="en-US" sz="800"/>
              <a:t>Universität Stuttgart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270195" y="8777813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EE9A79A6-2547-4C8F-B0ED-316280A1A122}" type="slidenum">
              <a:rPr lang="en-US" sz="800" smtClean="0"/>
              <a:pPr algn="l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61533372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000" y="244800"/>
            <a:ext cx="5904000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r>
              <a:rPr lang="en-US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482800" y="8776800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EE95DCD8-576C-4B52-B75A-0B641B465708}" type="datetime1">
              <a:rPr lang="de-DE" smtClean="0"/>
              <a:t>21.02.2026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68313" y="1009019"/>
            <a:ext cx="4937125" cy="30861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68313" y="4400550"/>
            <a:ext cx="5903912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68000" y="8776800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271200" y="8776800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05DD1DF0-DD4E-4B0C-B0FD-D16D9D2A97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8570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180975" indent="-180975" algn="l" defTabSz="713232" rtl="0" eaLnBrk="1" latinLnBrk="0" hangingPunct="1">
      <a:lnSpc>
        <a:spcPct val="120000"/>
      </a:lnSpc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8775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38163" indent="-179388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19138" indent="-180975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96938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practical difficulty of keeping tests aligned with fast-changing docs without formal schemas.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407600"/>
            <a:ext cx="9144000" cy="43092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4578969" y="1004400"/>
            <a:ext cx="4320000" cy="4320000"/>
          </a:xfrm>
          <a:prstGeom prst="ellipse">
            <a:avLst/>
          </a:prstGeom>
          <a:solidFill>
            <a:schemeClr val="accent3"/>
          </a:solidFill>
        </p:spPr>
        <p:txBody>
          <a:bodyPr wrap="square" lIns="0" tIns="0" rIns="0" bIns="1260000" anchor="b" anchorCtr="0">
            <a:noAutofit/>
          </a:bodyPr>
          <a:lstStyle>
            <a:lvl1pPr marL="0" indent="0" algn="l">
              <a:lnSpc>
                <a:spcPct val="90000"/>
              </a:lnSpc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durch Klicken </a:t>
            </a:r>
            <a:br>
              <a:rPr lang="de-DE" dirty="0"/>
            </a:br>
            <a:r>
              <a:rPr lang="de-DE" dirty="0"/>
              <a:t>hinzufügen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0138" y="3621600"/>
            <a:ext cx="3240688" cy="428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7396488" y="407520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3" t="1" b="-1"/>
          <a:stretch/>
        </p:blipFill>
        <p:spPr>
          <a:xfrm>
            <a:off x="914400" y="656409"/>
            <a:ext cx="1628471" cy="16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3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407600"/>
            <a:ext cx="9144000" cy="43092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4578969" y="1004400"/>
            <a:ext cx="4320000" cy="4320000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1260000" anchor="b" anchorCtr="0">
            <a:noAutofit/>
          </a:bodyPr>
          <a:lstStyle>
            <a:lvl1pPr marL="0" indent="0" algn="l">
              <a:lnSpc>
                <a:spcPct val="90000"/>
              </a:lnSpc>
              <a:defRPr sz="2800" b="1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durch Klicken </a:t>
            </a:r>
            <a:br>
              <a:rPr lang="de-DE" dirty="0"/>
            </a:br>
            <a:r>
              <a:rPr lang="de-DE" dirty="0"/>
              <a:t>hinzufügen</a:t>
            </a:r>
          </a:p>
        </p:txBody>
      </p:sp>
      <p:sp>
        <p:nvSpPr>
          <p:cNvPr id="5" name="Bildplatzhalter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396488" y="407520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90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4000" y="649575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/>
              <a:t>Institutsname max. 2-zeilig, bitte hier klicken und überschreiben</a:t>
            </a:r>
            <a:endParaRPr lang="de-DE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5210138" y="3621600"/>
            <a:ext cx="3240688" cy="428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842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7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7253288" y="5256213"/>
            <a:ext cx="1422400" cy="30480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407600"/>
            <a:ext cx="9144000" cy="36720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4000" y="649575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/>
              <a:t>Institutsname max. 2-zeilig, bitte hier klicken und überschreiben</a:t>
            </a:r>
            <a:endParaRPr lang="de-DE" dirty="0"/>
          </a:p>
        </p:txBody>
      </p:sp>
      <p:sp>
        <p:nvSpPr>
          <p:cNvPr id="2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4970585" y="1004399"/>
            <a:ext cx="3911553" cy="391155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1260000" anchor="b" anchorCtr="0">
            <a:noAutofit/>
          </a:bodyPr>
          <a:lstStyle>
            <a:lvl1pPr marL="0" indent="0" algn="l">
              <a:lnSpc>
                <a:spcPct val="90000"/>
              </a:lnSpc>
              <a:defRPr sz="2700" b="1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durch Klicken </a:t>
            </a:r>
            <a:br>
              <a:rPr lang="de-DE" dirty="0"/>
            </a:br>
            <a:r>
              <a:rPr lang="de-DE" dirty="0"/>
              <a:t>hinzufügen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60887" y="3248562"/>
            <a:ext cx="2898507" cy="428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9766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614FD-D6D8-4832-9998-0326862FDF13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University </a:t>
            </a:r>
            <a:r>
              <a:rPr lang="de-DE" dirty="0" err="1"/>
              <a:t>of</a:t>
            </a:r>
            <a:r>
              <a:rPr lang="de-DE" dirty="0"/>
              <a:t> Stuttgart, IAS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1450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de-DE" dirty="0"/>
          </a:p>
        </p:txBody>
      </p:sp>
      <p:sp>
        <p:nvSpPr>
          <p:cNvPr id="8" name="bk object 17"/>
          <p:cNvSpPr/>
          <p:nvPr userDrawn="1"/>
        </p:nvSpPr>
        <p:spPr>
          <a:xfrm>
            <a:off x="1279949" y="0"/>
            <a:ext cx="6544309" cy="3926204"/>
          </a:xfrm>
          <a:custGeom>
            <a:avLst/>
            <a:gdLst/>
            <a:ahLst/>
            <a:cxnLst/>
            <a:rect l="l" t="t" r="r" b="b"/>
            <a:pathLst>
              <a:path w="6544309" h="3926204">
                <a:moveTo>
                  <a:pt x="68016" y="0"/>
                </a:moveTo>
                <a:lnTo>
                  <a:pt x="42823" y="123182"/>
                </a:lnTo>
                <a:lnTo>
                  <a:pt x="10846" y="385553"/>
                </a:lnTo>
                <a:lnTo>
                  <a:pt x="0" y="653897"/>
                </a:lnTo>
                <a:lnTo>
                  <a:pt x="10846" y="922242"/>
                </a:lnTo>
                <a:lnTo>
                  <a:pt x="42823" y="1184612"/>
                </a:lnTo>
                <a:lnTo>
                  <a:pt x="95089" y="1440166"/>
                </a:lnTo>
                <a:lnTo>
                  <a:pt x="166802" y="1688062"/>
                </a:lnTo>
                <a:lnTo>
                  <a:pt x="257120" y="1927457"/>
                </a:lnTo>
                <a:lnTo>
                  <a:pt x="365200" y="2157510"/>
                </a:lnTo>
                <a:lnTo>
                  <a:pt x="490201" y="2377378"/>
                </a:lnTo>
                <a:lnTo>
                  <a:pt x="631281" y="2586220"/>
                </a:lnTo>
                <a:lnTo>
                  <a:pt x="787597" y="2783193"/>
                </a:lnTo>
                <a:lnTo>
                  <a:pt x="958308" y="2967456"/>
                </a:lnTo>
                <a:lnTo>
                  <a:pt x="1142571" y="3138167"/>
                </a:lnTo>
                <a:lnTo>
                  <a:pt x="1339545" y="3294482"/>
                </a:lnTo>
                <a:lnTo>
                  <a:pt x="1548387" y="3435561"/>
                </a:lnTo>
                <a:lnTo>
                  <a:pt x="1768256" y="3560562"/>
                </a:lnTo>
                <a:lnTo>
                  <a:pt x="1998308" y="3668642"/>
                </a:lnTo>
                <a:lnTo>
                  <a:pt x="2237703" y="3758959"/>
                </a:lnTo>
                <a:lnTo>
                  <a:pt x="2485598" y="3830671"/>
                </a:lnTo>
                <a:lnTo>
                  <a:pt x="2741151" y="3882937"/>
                </a:lnTo>
                <a:lnTo>
                  <a:pt x="3003520" y="3914914"/>
                </a:lnTo>
                <a:lnTo>
                  <a:pt x="3271862" y="3925760"/>
                </a:lnTo>
                <a:lnTo>
                  <a:pt x="3540207" y="3914914"/>
                </a:lnTo>
                <a:lnTo>
                  <a:pt x="3802577" y="3882937"/>
                </a:lnTo>
                <a:lnTo>
                  <a:pt x="4058131" y="3830671"/>
                </a:lnTo>
                <a:lnTo>
                  <a:pt x="4306027" y="3758959"/>
                </a:lnTo>
                <a:lnTo>
                  <a:pt x="4545422" y="3668642"/>
                </a:lnTo>
                <a:lnTo>
                  <a:pt x="4775475" y="3560562"/>
                </a:lnTo>
                <a:lnTo>
                  <a:pt x="4995343" y="3435561"/>
                </a:lnTo>
                <a:lnTo>
                  <a:pt x="5204185" y="3294482"/>
                </a:lnTo>
                <a:lnTo>
                  <a:pt x="5401159" y="3138167"/>
                </a:lnTo>
                <a:lnTo>
                  <a:pt x="5585421" y="2967456"/>
                </a:lnTo>
                <a:lnTo>
                  <a:pt x="5756132" y="2783193"/>
                </a:lnTo>
                <a:lnTo>
                  <a:pt x="5912448" y="2586220"/>
                </a:lnTo>
                <a:lnTo>
                  <a:pt x="6053527" y="2377378"/>
                </a:lnTo>
                <a:lnTo>
                  <a:pt x="6178527" y="2157510"/>
                </a:lnTo>
                <a:lnTo>
                  <a:pt x="6286607" y="1927457"/>
                </a:lnTo>
                <a:lnTo>
                  <a:pt x="6376924" y="1688062"/>
                </a:lnTo>
                <a:lnTo>
                  <a:pt x="6448637" y="1440166"/>
                </a:lnTo>
                <a:lnTo>
                  <a:pt x="6500902" y="1184612"/>
                </a:lnTo>
                <a:lnTo>
                  <a:pt x="6532879" y="922242"/>
                </a:lnTo>
                <a:lnTo>
                  <a:pt x="6543725" y="653897"/>
                </a:lnTo>
                <a:lnTo>
                  <a:pt x="6532879" y="385553"/>
                </a:lnTo>
                <a:lnTo>
                  <a:pt x="6500902" y="123182"/>
                </a:lnTo>
                <a:lnTo>
                  <a:pt x="6475709" y="0"/>
                </a:lnTo>
                <a:lnTo>
                  <a:pt x="68016" y="0"/>
                </a:lnTo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800" y="900000"/>
            <a:ext cx="4118110" cy="1360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22800" y="629826"/>
            <a:ext cx="4118110" cy="22159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Kapitel</a:t>
            </a:r>
          </a:p>
        </p:txBody>
      </p:sp>
    </p:spTree>
    <p:extLst>
      <p:ext uri="{BB962C8B-B14F-4D97-AF65-F5344CB8AC3E}">
        <p14:creationId xmlns:p14="http://schemas.microsoft.com/office/powerpoint/2010/main" val="271076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Unterkap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799" y="2250000"/>
            <a:ext cx="5526581" cy="900000"/>
          </a:xfrm>
        </p:spPr>
        <p:txBody>
          <a:bodyPr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22800" y="1944000"/>
            <a:ext cx="3026729" cy="22159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Unterkapitel</a:t>
            </a:r>
          </a:p>
        </p:txBody>
      </p:sp>
    </p:spTree>
    <p:extLst>
      <p:ext uri="{BB962C8B-B14F-4D97-AF65-F5344CB8AC3E}">
        <p14:creationId xmlns:p14="http://schemas.microsoft.com/office/powerpoint/2010/main" val="317826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C8CBB-273B-4D18-98B6-0F23409BD1A4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5" name="object 2"/>
          <p:cNvSpPr/>
          <p:nvPr userDrawn="1"/>
        </p:nvSpPr>
        <p:spPr>
          <a:xfrm>
            <a:off x="410148" y="-91410"/>
            <a:ext cx="7198359" cy="4796155"/>
          </a:xfrm>
          <a:custGeom>
            <a:avLst/>
            <a:gdLst/>
            <a:ahLst/>
            <a:cxnLst/>
            <a:rect l="l" t="t" r="r" b="b"/>
            <a:pathLst>
              <a:path w="7198359" h="4796155">
                <a:moveTo>
                  <a:pt x="6992384" y="0"/>
                </a:moveTo>
                <a:lnTo>
                  <a:pt x="205721" y="0"/>
                </a:lnTo>
                <a:lnTo>
                  <a:pt x="183482" y="58947"/>
                </a:lnTo>
                <a:lnTo>
                  <a:pt x="104598" y="331632"/>
                </a:lnTo>
                <a:lnTo>
                  <a:pt x="47105" y="612741"/>
                </a:lnTo>
                <a:lnTo>
                  <a:pt x="11930" y="901348"/>
                </a:lnTo>
                <a:lnTo>
                  <a:pt x="0" y="1196526"/>
                </a:lnTo>
                <a:lnTo>
                  <a:pt x="11930" y="1491704"/>
                </a:lnTo>
                <a:lnTo>
                  <a:pt x="47105" y="1780311"/>
                </a:lnTo>
                <a:lnTo>
                  <a:pt x="104598" y="2061420"/>
                </a:lnTo>
                <a:lnTo>
                  <a:pt x="183482" y="2334105"/>
                </a:lnTo>
                <a:lnTo>
                  <a:pt x="282831" y="2597440"/>
                </a:lnTo>
                <a:lnTo>
                  <a:pt x="401719" y="2850498"/>
                </a:lnTo>
                <a:lnTo>
                  <a:pt x="539220" y="3092354"/>
                </a:lnTo>
                <a:lnTo>
                  <a:pt x="694408" y="3322080"/>
                </a:lnTo>
                <a:lnTo>
                  <a:pt x="866356" y="3538751"/>
                </a:lnTo>
                <a:lnTo>
                  <a:pt x="1054138" y="3741441"/>
                </a:lnTo>
                <a:lnTo>
                  <a:pt x="1256827" y="3929223"/>
                </a:lnTo>
                <a:lnTo>
                  <a:pt x="1473498" y="4101171"/>
                </a:lnTo>
                <a:lnTo>
                  <a:pt x="1703225" y="4256358"/>
                </a:lnTo>
                <a:lnTo>
                  <a:pt x="1945080" y="4393859"/>
                </a:lnTo>
                <a:lnTo>
                  <a:pt x="2198139" y="4512748"/>
                </a:lnTo>
                <a:lnTo>
                  <a:pt x="2461473" y="4612097"/>
                </a:lnTo>
                <a:lnTo>
                  <a:pt x="2734158" y="4690981"/>
                </a:lnTo>
                <a:lnTo>
                  <a:pt x="3015267" y="4748474"/>
                </a:lnTo>
                <a:lnTo>
                  <a:pt x="3303874" y="4783648"/>
                </a:lnTo>
                <a:lnTo>
                  <a:pt x="3599053" y="4795579"/>
                </a:lnTo>
                <a:lnTo>
                  <a:pt x="3894231" y="4783648"/>
                </a:lnTo>
                <a:lnTo>
                  <a:pt x="4182838" y="4748474"/>
                </a:lnTo>
                <a:lnTo>
                  <a:pt x="4463947" y="4690981"/>
                </a:lnTo>
                <a:lnTo>
                  <a:pt x="4736632" y="4612097"/>
                </a:lnTo>
                <a:lnTo>
                  <a:pt x="4999966" y="4512748"/>
                </a:lnTo>
                <a:lnTo>
                  <a:pt x="5253025" y="4393859"/>
                </a:lnTo>
                <a:lnTo>
                  <a:pt x="5494880" y="4256358"/>
                </a:lnTo>
                <a:lnTo>
                  <a:pt x="5724607" y="4101171"/>
                </a:lnTo>
                <a:lnTo>
                  <a:pt x="5941278" y="3929223"/>
                </a:lnTo>
                <a:lnTo>
                  <a:pt x="6143967" y="3741441"/>
                </a:lnTo>
                <a:lnTo>
                  <a:pt x="6331749" y="3538751"/>
                </a:lnTo>
                <a:lnTo>
                  <a:pt x="6503697" y="3322080"/>
                </a:lnTo>
                <a:lnTo>
                  <a:pt x="6658885" y="3092354"/>
                </a:lnTo>
                <a:lnTo>
                  <a:pt x="6796386" y="2850498"/>
                </a:lnTo>
                <a:lnTo>
                  <a:pt x="6915274" y="2597440"/>
                </a:lnTo>
                <a:lnTo>
                  <a:pt x="7014623" y="2334105"/>
                </a:lnTo>
                <a:lnTo>
                  <a:pt x="7093507" y="2061420"/>
                </a:lnTo>
                <a:lnTo>
                  <a:pt x="7151000" y="1780311"/>
                </a:lnTo>
                <a:lnTo>
                  <a:pt x="7186175" y="1491704"/>
                </a:lnTo>
                <a:lnTo>
                  <a:pt x="7198106" y="1196526"/>
                </a:lnTo>
                <a:lnTo>
                  <a:pt x="7186175" y="901348"/>
                </a:lnTo>
                <a:lnTo>
                  <a:pt x="7151000" y="612741"/>
                </a:lnTo>
                <a:lnTo>
                  <a:pt x="7093507" y="331632"/>
                </a:lnTo>
                <a:lnTo>
                  <a:pt x="7014623" y="58947"/>
                </a:lnTo>
                <a:lnTo>
                  <a:pt x="6992384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endParaRPr lang="de-DE" dirty="0"/>
          </a:p>
        </p:txBody>
      </p:sp>
      <p:sp>
        <p:nvSpPr>
          <p:cNvPr id="6" name="object 3"/>
          <p:cNvSpPr/>
          <p:nvPr userDrawn="1"/>
        </p:nvSpPr>
        <p:spPr>
          <a:xfrm>
            <a:off x="5559362" y="3040401"/>
            <a:ext cx="2049145" cy="2049145"/>
          </a:xfrm>
          <a:custGeom>
            <a:avLst/>
            <a:gdLst/>
            <a:ahLst/>
            <a:cxnLst/>
            <a:rect l="l" t="t" r="r" b="b"/>
            <a:pathLst>
              <a:path w="2049145" h="2049145">
                <a:moveTo>
                  <a:pt x="1024432" y="0"/>
                </a:moveTo>
                <a:lnTo>
                  <a:pt x="940414" y="3395"/>
                </a:lnTo>
                <a:lnTo>
                  <a:pt x="858266" y="13407"/>
                </a:lnTo>
                <a:lnTo>
                  <a:pt x="778251" y="29772"/>
                </a:lnTo>
                <a:lnTo>
                  <a:pt x="700635" y="52225"/>
                </a:lnTo>
                <a:lnTo>
                  <a:pt x="625679" y="80504"/>
                </a:lnTo>
                <a:lnTo>
                  <a:pt x="553649" y="114344"/>
                </a:lnTo>
                <a:lnTo>
                  <a:pt x="484808" y="153482"/>
                </a:lnTo>
                <a:lnTo>
                  <a:pt x="419418" y="197654"/>
                </a:lnTo>
                <a:lnTo>
                  <a:pt x="357745" y="246597"/>
                </a:lnTo>
                <a:lnTo>
                  <a:pt x="300051" y="300047"/>
                </a:lnTo>
                <a:lnTo>
                  <a:pt x="246601" y="357740"/>
                </a:lnTo>
                <a:lnTo>
                  <a:pt x="197657" y="419413"/>
                </a:lnTo>
                <a:lnTo>
                  <a:pt x="153485" y="484802"/>
                </a:lnTo>
                <a:lnTo>
                  <a:pt x="114346" y="553644"/>
                </a:lnTo>
                <a:lnTo>
                  <a:pt x="80505" y="625674"/>
                </a:lnTo>
                <a:lnTo>
                  <a:pt x="52226" y="700630"/>
                </a:lnTo>
                <a:lnTo>
                  <a:pt x="29773" y="778247"/>
                </a:lnTo>
                <a:lnTo>
                  <a:pt x="13408" y="858262"/>
                </a:lnTo>
                <a:lnTo>
                  <a:pt x="3396" y="940412"/>
                </a:lnTo>
                <a:lnTo>
                  <a:pt x="0" y="1024432"/>
                </a:lnTo>
                <a:lnTo>
                  <a:pt x="3396" y="1108453"/>
                </a:lnTo>
                <a:lnTo>
                  <a:pt x="13408" y="1190602"/>
                </a:lnTo>
                <a:lnTo>
                  <a:pt x="29773" y="1270617"/>
                </a:lnTo>
                <a:lnTo>
                  <a:pt x="52226" y="1348235"/>
                </a:lnTo>
                <a:lnTo>
                  <a:pt x="80505" y="1423190"/>
                </a:lnTo>
                <a:lnTo>
                  <a:pt x="114346" y="1495221"/>
                </a:lnTo>
                <a:lnTo>
                  <a:pt x="153485" y="1564063"/>
                </a:lnTo>
                <a:lnTo>
                  <a:pt x="197657" y="1629452"/>
                </a:lnTo>
                <a:lnTo>
                  <a:pt x="246601" y="1691125"/>
                </a:lnTo>
                <a:lnTo>
                  <a:pt x="300051" y="1748818"/>
                </a:lnTo>
                <a:lnTo>
                  <a:pt x="357745" y="1802268"/>
                </a:lnTo>
                <a:lnTo>
                  <a:pt x="419418" y="1851211"/>
                </a:lnTo>
                <a:lnTo>
                  <a:pt x="484808" y="1895383"/>
                </a:lnTo>
                <a:lnTo>
                  <a:pt x="553649" y="1934521"/>
                </a:lnTo>
                <a:lnTo>
                  <a:pt x="625679" y="1968361"/>
                </a:lnTo>
                <a:lnTo>
                  <a:pt x="700635" y="1996639"/>
                </a:lnTo>
                <a:lnTo>
                  <a:pt x="778251" y="2019093"/>
                </a:lnTo>
                <a:lnTo>
                  <a:pt x="858266" y="2035457"/>
                </a:lnTo>
                <a:lnTo>
                  <a:pt x="940414" y="2045469"/>
                </a:lnTo>
                <a:lnTo>
                  <a:pt x="1024432" y="2048865"/>
                </a:lnTo>
                <a:lnTo>
                  <a:pt x="1108453" y="2045469"/>
                </a:lnTo>
                <a:lnTo>
                  <a:pt x="1190602" y="2035457"/>
                </a:lnTo>
                <a:lnTo>
                  <a:pt x="1270617" y="2019093"/>
                </a:lnTo>
                <a:lnTo>
                  <a:pt x="1348235" y="1996639"/>
                </a:lnTo>
                <a:lnTo>
                  <a:pt x="1423190" y="1968361"/>
                </a:lnTo>
                <a:lnTo>
                  <a:pt x="1495221" y="1934521"/>
                </a:lnTo>
                <a:lnTo>
                  <a:pt x="1564063" y="1895383"/>
                </a:lnTo>
                <a:lnTo>
                  <a:pt x="1629452" y="1851211"/>
                </a:lnTo>
                <a:lnTo>
                  <a:pt x="1691125" y="1802268"/>
                </a:lnTo>
                <a:lnTo>
                  <a:pt x="1748818" y="1748818"/>
                </a:lnTo>
                <a:lnTo>
                  <a:pt x="1802268" y="1691125"/>
                </a:lnTo>
                <a:lnTo>
                  <a:pt x="1851211" y="1629452"/>
                </a:lnTo>
                <a:lnTo>
                  <a:pt x="1895383" y="1564063"/>
                </a:lnTo>
                <a:lnTo>
                  <a:pt x="1934521" y="1495221"/>
                </a:lnTo>
                <a:lnTo>
                  <a:pt x="1968361" y="1423190"/>
                </a:lnTo>
                <a:lnTo>
                  <a:pt x="1996639" y="1348235"/>
                </a:lnTo>
                <a:lnTo>
                  <a:pt x="2019093" y="1270617"/>
                </a:lnTo>
                <a:lnTo>
                  <a:pt x="2035457" y="1190602"/>
                </a:lnTo>
                <a:lnTo>
                  <a:pt x="2045469" y="1108453"/>
                </a:lnTo>
                <a:lnTo>
                  <a:pt x="2048865" y="1024432"/>
                </a:lnTo>
                <a:lnTo>
                  <a:pt x="2045469" y="940412"/>
                </a:lnTo>
                <a:lnTo>
                  <a:pt x="2035457" y="858262"/>
                </a:lnTo>
                <a:lnTo>
                  <a:pt x="2019093" y="778247"/>
                </a:lnTo>
                <a:lnTo>
                  <a:pt x="1996639" y="700630"/>
                </a:lnTo>
                <a:lnTo>
                  <a:pt x="1968361" y="625674"/>
                </a:lnTo>
                <a:lnTo>
                  <a:pt x="1934521" y="553644"/>
                </a:lnTo>
                <a:lnTo>
                  <a:pt x="1895383" y="484802"/>
                </a:lnTo>
                <a:lnTo>
                  <a:pt x="1851211" y="419413"/>
                </a:lnTo>
                <a:lnTo>
                  <a:pt x="1802268" y="357740"/>
                </a:lnTo>
                <a:lnTo>
                  <a:pt x="1748818" y="300047"/>
                </a:lnTo>
                <a:lnTo>
                  <a:pt x="1691125" y="246597"/>
                </a:lnTo>
                <a:lnTo>
                  <a:pt x="1629452" y="197654"/>
                </a:lnTo>
                <a:lnTo>
                  <a:pt x="1564063" y="153482"/>
                </a:lnTo>
                <a:lnTo>
                  <a:pt x="1495221" y="114344"/>
                </a:lnTo>
                <a:lnTo>
                  <a:pt x="1423190" y="80504"/>
                </a:lnTo>
                <a:lnTo>
                  <a:pt x="1348235" y="52225"/>
                </a:lnTo>
                <a:lnTo>
                  <a:pt x="1270617" y="29772"/>
                </a:lnTo>
                <a:lnTo>
                  <a:pt x="1190602" y="13407"/>
                </a:lnTo>
                <a:lnTo>
                  <a:pt x="1108453" y="3395"/>
                </a:lnTo>
                <a:lnTo>
                  <a:pt x="10244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dirty="0"/>
          </a:p>
        </p:txBody>
      </p:sp>
      <p:sp>
        <p:nvSpPr>
          <p:cNvPr id="7" name="object 8"/>
          <p:cNvSpPr txBox="1"/>
          <p:nvPr userDrawn="1"/>
        </p:nvSpPr>
        <p:spPr>
          <a:xfrm>
            <a:off x="5907214" y="1625721"/>
            <a:ext cx="1295400" cy="3064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95"/>
              </a:lnSpc>
            </a:pPr>
            <a:r>
              <a:rPr lang="de-DE" sz="20000" b="1" dirty="0">
                <a:solidFill>
                  <a:srgbClr val="BFBFBF"/>
                </a:solidFill>
                <a:latin typeface="Arial"/>
                <a:cs typeface="Arial"/>
              </a:rPr>
              <a:t>„</a:t>
            </a:r>
            <a:endParaRPr lang="de-DE" sz="20000" dirty="0">
              <a:latin typeface="Arial"/>
              <a:cs typeface="Arial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95600" y="936000"/>
            <a:ext cx="4834626" cy="185227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</a:defRPr>
            </a:lvl1pPr>
            <a:lvl2pPr>
              <a:defRPr sz="3400" b="1">
                <a:solidFill>
                  <a:schemeClr val="bg1"/>
                </a:solidFill>
              </a:defRPr>
            </a:lvl2pPr>
            <a:lvl3pPr>
              <a:defRPr sz="3400" b="1">
                <a:solidFill>
                  <a:schemeClr val="bg1"/>
                </a:solidFill>
              </a:defRPr>
            </a:lvl3pPr>
            <a:lvl4pPr>
              <a:defRPr sz="3400" b="1">
                <a:solidFill>
                  <a:schemeClr val="bg1"/>
                </a:solidFill>
              </a:defRPr>
            </a:lvl4pPr>
            <a:lvl5pPr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Zitat durch Klicken hinzufügen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695600" y="3024000"/>
            <a:ext cx="3805721" cy="46399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54937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597025"/>
            <a:ext cx="3960000" cy="34925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5688" y="1597025"/>
            <a:ext cx="3960000" cy="34920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E7AFB-D9B0-41AD-880D-41D7A6A97CB5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2662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597026"/>
            <a:ext cx="3960000" cy="239148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" y="1909916"/>
            <a:ext cx="3960000" cy="317960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758E7-6BF4-4B61-BFC3-1ADE6C9804DF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4"/>
          </p:nvPr>
        </p:nvSpPr>
        <p:spPr>
          <a:xfrm>
            <a:off x="4715688" y="1597026"/>
            <a:ext cx="3960000" cy="239148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5"/>
          </p:nvPr>
        </p:nvSpPr>
        <p:spPr>
          <a:xfrm>
            <a:off x="4715688" y="1909916"/>
            <a:ext cx="3960000" cy="3179609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4246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er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597025"/>
            <a:ext cx="4176000" cy="34925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1FB5-E126-4879-8EE1-92A2D8248176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597024"/>
            <a:ext cx="3780000" cy="1710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/>
          </p:nvPr>
        </p:nvSpPr>
        <p:spPr>
          <a:xfrm>
            <a:off x="4895688" y="3379525"/>
            <a:ext cx="3780000" cy="1710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284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Hoch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597025"/>
            <a:ext cx="4176860" cy="34925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044B8-9C23-47B9-A092-0EDC2AC50882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597025"/>
            <a:ext cx="3780000" cy="34925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57339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6"/>
          </p:nvPr>
        </p:nvSpPr>
        <p:spPr>
          <a:xfrm>
            <a:off x="3240000" y="1597025"/>
            <a:ext cx="3240000" cy="205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7"/>
          </p:nvPr>
        </p:nvSpPr>
        <p:spPr>
          <a:xfrm>
            <a:off x="3240000" y="3655800"/>
            <a:ext cx="3240000" cy="205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8"/>
          </p:nvPr>
        </p:nvSpPr>
        <p:spPr>
          <a:xfrm>
            <a:off x="6480000" y="1597025"/>
            <a:ext cx="2664000" cy="411797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19"/>
          </p:nvPr>
        </p:nvSpPr>
        <p:spPr>
          <a:xfrm>
            <a:off x="0" y="1597025"/>
            <a:ext cx="3240000" cy="205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20"/>
          </p:nvPr>
        </p:nvSpPr>
        <p:spPr>
          <a:xfrm>
            <a:off x="0" y="3655800"/>
            <a:ext cx="3240000" cy="20592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23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rund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F7B2-C503-4842-8C52-73784D0A6E4A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482226" y="111537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1818000" y="1245972"/>
            <a:ext cx="593640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1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482226" y="2573224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18"/>
          </p:nvPr>
        </p:nvSpPr>
        <p:spPr>
          <a:xfrm>
            <a:off x="1818000" y="2703823"/>
            <a:ext cx="593640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3" name="Bildplatzhalter 7"/>
          <p:cNvSpPr>
            <a:spLocks noGrp="1" noChangeAspect="1"/>
          </p:cNvSpPr>
          <p:nvPr>
            <p:ph type="pic" sz="quarter" idx="19"/>
          </p:nvPr>
        </p:nvSpPr>
        <p:spPr>
          <a:xfrm>
            <a:off x="482226" y="3996000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0"/>
          </p:nvPr>
        </p:nvSpPr>
        <p:spPr>
          <a:xfrm>
            <a:off x="1818000" y="4126599"/>
            <a:ext cx="593640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900442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eckig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>
          <a:xfrm>
            <a:off x="476250" y="1115373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21"/>
          </p:nvPr>
        </p:nvSpPr>
        <p:spPr>
          <a:xfrm>
            <a:off x="476250" y="2576311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23"/>
          </p:nvPr>
        </p:nvSpPr>
        <p:spPr>
          <a:xfrm>
            <a:off x="476250" y="4007159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E395-5488-4318-8290-BE4ECAE1F5CD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2144110" y="1245972"/>
            <a:ext cx="561029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4" name="Textplatzhalter 10"/>
          <p:cNvSpPr>
            <a:spLocks noGrp="1"/>
          </p:cNvSpPr>
          <p:nvPr>
            <p:ph type="body" sz="quarter" idx="22"/>
          </p:nvPr>
        </p:nvSpPr>
        <p:spPr>
          <a:xfrm>
            <a:off x="2144110" y="2706910"/>
            <a:ext cx="561029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24"/>
          </p:nvPr>
        </p:nvSpPr>
        <p:spPr>
          <a:xfrm>
            <a:off x="2144110" y="4137758"/>
            <a:ext cx="5610290" cy="818802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21955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468370" y="2315783"/>
            <a:ext cx="2814039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5436-EEA4-47E7-B37D-14DD840FAF21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1169244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214800"/>
            <a:ext cx="234029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600000"/>
            <a:ext cx="234029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1" name="Rechteck 20"/>
          <p:cNvSpPr/>
          <p:nvPr userDrawn="1"/>
        </p:nvSpPr>
        <p:spPr>
          <a:xfrm>
            <a:off x="3896476" y="2315783"/>
            <a:ext cx="2814039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4583495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34251" y="3214800"/>
            <a:ext cx="234029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4134251" y="3600000"/>
            <a:ext cx="234029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538362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468371" y="2315783"/>
            <a:ext cx="2520000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20D3-AD77-4EFD-B2AD-421A35C17F0D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1022226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214800"/>
            <a:ext cx="216000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600000"/>
            <a:ext cx="216000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3" name="Rechteck 12"/>
          <p:cNvSpPr/>
          <p:nvPr userDrawn="1"/>
        </p:nvSpPr>
        <p:spPr>
          <a:xfrm>
            <a:off x="3318957" y="2315783"/>
            <a:ext cx="2520000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3858957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3556731" y="3214800"/>
            <a:ext cx="216000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3556731" y="3600000"/>
            <a:ext cx="216000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7" name="Rechteck 16"/>
          <p:cNvSpPr/>
          <p:nvPr userDrawn="1"/>
        </p:nvSpPr>
        <p:spPr>
          <a:xfrm>
            <a:off x="6155688" y="2315783"/>
            <a:ext cx="2520000" cy="27753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Bildplatzhalter 7"/>
          <p:cNvSpPr>
            <a:spLocks noGrp="1" noChangeAspect="1"/>
          </p:cNvSpPr>
          <p:nvPr>
            <p:ph type="pic" sz="quarter" idx="20"/>
          </p:nvPr>
        </p:nvSpPr>
        <p:spPr>
          <a:xfrm>
            <a:off x="6695688" y="1587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6393462" y="3214800"/>
            <a:ext cx="2160000" cy="252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6393462" y="3600000"/>
            <a:ext cx="2160000" cy="119425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5978097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468313" y="2315783"/>
            <a:ext cx="2029913" cy="2773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EBD93-34FD-468E-9A63-71616909709A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840865" y="1587600"/>
            <a:ext cx="1298723" cy="12987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214799"/>
            <a:ext cx="1624994" cy="407775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809772"/>
            <a:ext cx="1624994" cy="113596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4" name="Rechteck 23"/>
          <p:cNvSpPr/>
          <p:nvPr userDrawn="1"/>
        </p:nvSpPr>
        <p:spPr>
          <a:xfrm>
            <a:off x="2545454" y="2315783"/>
            <a:ext cx="2016000" cy="2773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2904093" y="1587600"/>
            <a:ext cx="1298723" cy="12987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779437" y="3214799"/>
            <a:ext cx="1624994" cy="407775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7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79437" y="3809772"/>
            <a:ext cx="1624994" cy="113596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8" name="Rechteck 27"/>
          <p:cNvSpPr/>
          <p:nvPr userDrawn="1"/>
        </p:nvSpPr>
        <p:spPr>
          <a:xfrm>
            <a:off x="4608682" y="2315783"/>
            <a:ext cx="2016000" cy="2773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9" name="Bildplatzhalter 7"/>
          <p:cNvSpPr>
            <a:spLocks noGrp="1" noChangeAspect="1"/>
          </p:cNvSpPr>
          <p:nvPr>
            <p:ph type="pic" sz="quarter" idx="20"/>
          </p:nvPr>
        </p:nvSpPr>
        <p:spPr>
          <a:xfrm>
            <a:off x="4967321" y="1587600"/>
            <a:ext cx="1298723" cy="12987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30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844560" y="3214799"/>
            <a:ext cx="1624994" cy="407775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844560" y="3809772"/>
            <a:ext cx="1624994" cy="113596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32" name="Rechteck 31"/>
          <p:cNvSpPr/>
          <p:nvPr userDrawn="1"/>
        </p:nvSpPr>
        <p:spPr>
          <a:xfrm>
            <a:off x="6671909" y="2315783"/>
            <a:ext cx="2016000" cy="2773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Bildplatzhalter 7"/>
          <p:cNvSpPr>
            <a:spLocks noGrp="1" noChangeAspect="1"/>
          </p:cNvSpPr>
          <p:nvPr>
            <p:ph type="pic" sz="quarter" idx="23"/>
          </p:nvPr>
        </p:nvSpPr>
        <p:spPr>
          <a:xfrm>
            <a:off x="7030548" y="1587600"/>
            <a:ext cx="1298723" cy="12987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34" name="Textplatzhalt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6909683" y="3214799"/>
            <a:ext cx="1624994" cy="407775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5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6909683" y="3809772"/>
            <a:ext cx="1624994" cy="113596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49720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2E8C9-11D5-432E-A3DA-BFD71FF63A89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716400"/>
            <a:ext cx="8208000" cy="276225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65125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E3577-4033-4789-AB53-4F77A409BE41}" type="datetime1">
              <a:rPr lang="de-DE" smtClean="0"/>
              <a:t>21.02.2026</a:t>
            </a:fld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Stuttgart, IAS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0249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te_Schlussfolie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k object 1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de-DE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6" name="Bildplatzhalter 7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10400" y="21240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Add image by clicking on symbol</a:t>
            </a:r>
          </a:p>
        </p:txBody>
      </p:sp>
      <p:sp>
        <p:nvSpPr>
          <p:cNvPr id="7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325600"/>
            <a:ext cx="3290054" cy="216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9" name="Textfeld 8"/>
          <p:cNvSpPr txBox="1"/>
          <p:nvPr userDrawn="1"/>
        </p:nvSpPr>
        <p:spPr>
          <a:xfrm>
            <a:off x="2174400" y="2757600"/>
            <a:ext cx="2211862" cy="808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fr-FR" dirty="0">
                <a:solidFill>
                  <a:schemeClr val="bg1"/>
                </a:solidFill>
              </a:rPr>
              <a:t>e-mail:</a:t>
            </a:r>
          </a:p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fr-FR" dirty="0">
                <a:solidFill>
                  <a:schemeClr val="bg1"/>
                </a:solidFill>
              </a:rPr>
              <a:t>Study Program:</a:t>
            </a:r>
          </a:p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fr-FR" dirty="0">
                <a:solidFill>
                  <a:schemeClr val="bg1"/>
                </a:solidFill>
              </a:rPr>
              <a:t>	</a:t>
            </a:r>
          </a:p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17045" y="2757117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&lt;email </a:t>
            </a:r>
            <a:r>
              <a:rPr lang="de-DE" dirty="0" err="1"/>
              <a:t>adress</a:t>
            </a:r>
            <a:r>
              <a:rPr lang="de-DE" dirty="0"/>
              <a:t>&gt;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396000" y="1512000"/>
            <a:ext cx="2160000" cy="3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8" algn="l"/>
              </a:tabLst>
            </a:pPr>
            <a:r>
              <a:rPr lang="de-DE" sz="2000" b="1" dirty="0" err="1">
                <a:solidFill>
                  <a:schemeClr val="bg1"/>
                </a:solidFill>
              </a:rPr>
              <a:t>Thank</a:t>
            </a:r>
            <a:r>
              <a:rPr lang="de-DE" sz="2000" b="1" dirty="0">
                <a:solidFill>
                  <a:schemeClr val="bg1"/>
                </a:solidFill>
              </a:rPr>
              <a:t> </a:t>
            </a:r>
            <a:r>
              <a:rPr lang="de-DE" sz="2000" b="1" dirty="0" err="1">
                <a:solidFill>
                  <a:schemeClr val="bg1"/>
                </a:solidFill>
              </a:rPr>
              <a:t>you</a:t>
            </a:r>
            <a:r>
              <a:rPr lang="de-DE" sz="20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17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4000" y="649575"/>
            <a:ext cx="3561913" cy="483423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1200" b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en-US" b="1" dirty="0"/>
              <a:t>Institute of Industrial Automation and Software Engineering</a:t>
            </a:r>
          </a:p>
          <a:p>
            <a:pPr lvl="0"/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89F3854-37D8-4238-AE78-489978C904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9963" y="3018605"/>
            <a:ext cx="2584450" cy="303212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b="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de-DE" dirty="0"/>
              <a:t>&lt;</a:t>
            </a:r>
            <a:r>
              <a:rPr lang="de-DE" dirty="0" err="1"/>
              <a:t>study</a:t>
            </a:r>
            <a:r>
              <a:rPr lang="de-DE" dirty="0"/>
              <a:t> program&gt;</a:t>
            </a:r>
          </a:p>
        </p:txBody>
      </p:sp>
    </p:spTree>
    <p:extLst>
      <p:ext uri="{BB962C8B-B14F-4D97-AF65-F5344CB8AC3E}">
        <p14:creationId xmlns:p14="http://schemas.microsoft.com/office/powerpoint/2010/main" val="234374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 Institu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44529"/>
            <a:ext cx="2136071" cy="43199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407600"/>
            <a:ext cx="9144000" cy="36720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4000" y="649575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aseline="0"/>
            </a:lvl1pPr>
          </a:lstStyle>
          <a:p>
            <a:pPr lvl="0"/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Industrial Automation</a:t>
            </a:r>
          </a:p>
          <a:p>
            <a:pPr lvl="0"/>
            <a:r>
              <a:rPr lang="de-DE" dirty="0" err="1"/>
              <a:t>and</a:t>
            </a:r>
            <a:r>
              <a:rPr lang="de-DE" dirty="0"/>
              <a:t> Software Engineering</a:t>
            </a:r>
          </a:p>
        </p:txBody>
      </p:sp>
      <p:sp>
        <p:nvSpPr>
          <p:cNvPr id="2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4970585" y="1004399"/>
            <a:ext cx="3911553" cy="391155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1260000" anchor="b" anchorCtr="0">
            <a:noAutofit/>
          </a:bodyPr>
          <a:lstStyle>
            <a:lvl1pPr marL="0" indent="0" algn="l">
              <a:lnSpc>
                <a:spcPct val="90000"/>
              </a:lnSpc>
              <a:defRPr sz="2700" b="1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durch Klicken </a:t>
            </a:r>
            <a:br>
              <a:rPr lang="de-DE" dirty="0"/>
            </a:br>
            <a:r>
              <a:rPr lang="de-DE" dirty="0"/>
              <a:t>hinzufügen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60887" y="3248562"/>
            <a:ext cx="2898507" cy="428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11" name="Picture 27" descr="Logo_allein_klein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53526" y="5192129"/>
            <a:ext cx="922162" cy="4176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10409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313" y="396000"/>
            <a:ext cx="8207375" cy="2782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3" y="1597025"/>
            <a:ext cx="8207375" cy="34925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54400" y="5418000"/>
            <a:ext cx="532800" cy="12600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800" smtClean="0"/>
            </a:lvl1pPr>
          </a:lstStyle>
          <a:p>
            <a:fld id="{33DE23CC-3630-4ECD-99B9-66653279476A}" type="datetime1">
              <a:rPr lang="de-DE" smtClean="0"/>
              <a:t>21.02.2026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313" y="5418000"/>
            <a:ext cx="6061913" cy="12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University of Stuttgart, IAS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9200" y="5418000"/>
            <a:ext cx="223200" cy="12600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90" r:id="rId3"/>
    <p:sldLayoutId id="2147483662" r:id="rId4"/>
    <p:sldLayoutId id="2147483663" r:id="rId5"/>
    <p:sldLayoutId id="2147483676" r:id="rId6"/>
    <p:sldLayoutId id="2147483680" r:id="rId7"/>
    <p:sldLayoutId id="2147483664" r:id="rId8"/>
    <p:sldLayoutId id="2147483665" r:id="rId9"/>
    <p:sldLayoutId id="2147483677" r:id="rId10"/>
    <p:sldLayoutId id="2147483678" r:id="rId11"/>
    <p:sldLayoutId id="2147483679" r:id="rId12"/>
    <p:sldLayoutId id="2147483684" r:id="rId13"/>
    <p:sldLayoutId id="2147483685" r:id="rId14"/>
    <p:sldLayoutId id="2147483682" r:id="rId15"/>
    <p:sldLayoutId id="2147483681" r:id="rId16"/>
    <p:sldLayoutId id="2147483683" r:id="rId17"/>
    <p:sldLayoutId id="2147483666" r:id="rId18"/>
    <p:sldLayoutId id="2147483667" r:id="rId19"/>
    <p:sldLayoutId id="2147483689" r:id="rId20"/>
    <p:sldLayoutId id="2147483691" r:id="rId2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363" indent="-1841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176213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725" indent="-1841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76213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06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orient="horz" pos="3206" userDrawn="1">
          <p15:clr>
            <a:srgbClr val="F26B43"/>
          </p15:clr>
        </p15:guide>
        <p15:guide id="4" pos="546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LLM-Assisted (AI Agents) Test Generation for Documentation-Driven Software Systems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Presented by: Ayush Mittal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Thesis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Gap Between Documentation and Executable System Tests</a:t>
            </a:r>
          </a:p>
          <a:p>
            <a:pPr/>
            <a:r>
              <a:t>Software-defined systems expose behavior via heterogeneous interfaces and rich documentation.</a:t>
            </a:r>
          </a:p>
          <a:p>
            <a:pPr/>
            <a:r>
              <a:t>System tests are often connected to formal requirements via traceability matrices, but remain largely handcrafted and disconnected from evolving documentation.</a:t>
            </a:r>
          </a:p>
          <a:p>
            <a:pPr/>
            <a:r>
              <a:t>Existing LLM-for-testing work focuses on REST APIs with formal schemas (OpenAPI), with moderate coverage but struggles on structured inputs and inter-parameter dependencies.</a:t>
            </a:r>
          </a:p>
          <a:p>
            <a:pPr/>
            <a:r>
              <a:t>Specification-only approaches limit effectivenessLLMs miss undocumented constraints and domain knowledge.</a:t>
            </a:r>
          </a:p>
          <a:p>
            <a:pPr/>
            <a:r>
              <a:t>Robust generation requires semantic understanding of parameter relationships and dynamic feedback from real responses.</a:t>
            </a:r>
          </a:p>
          <a:p>
            <a:pPr/>
            <a:r>
              <a:t>A research gap exists for documentation-driven systems (e.g., Auto-GPT, SDVs).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in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From REST APIs to Documentation-Driven Software Systems</a:t>
            </a:r>
          </a:p>
          <a:p>
            <a:pPr/>
            <a:r>
              <a:t>Pivot after literature review: focus on systems lacking formal API specs.</a:t>
            </a:r>
          </a:p>
          <a:p>
            <a:pPr/>
            <a:r>
              <a:t>Candidate evaluation: Autoware vs. Auto-GPT.</a:t>
            </a:r>
          </a:p>
          <a:p>
            <a:pPr/>
            <a:r>
              <a:t>Auto-GPT selected: rich docs, mature test infrastructure, and strong doc-test alignment.</a:t>
            </a:r>
          </a:p>
          <a:p>
            <a:pPr/>
            <a:r>
              <a:t>RQ1: Transform natural-language documentation into structured representations for test derivation.</a:t>
            </a:r>
          </a:p>
          <a:p>
            <a:pPr/>
            <a:r>
              <a:t>RQ2: Use AI agents to generate deterministic, infrastructure-aligned web tests.</a:t>
            </a:r>
          </a:p>
          <a:p>
            <a:pPr/>
            <a:r>
              <a:t>RQ3: Evaluate effectiveness and failure profile of LLM-assisted generation.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Pivot and Target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Research Goals and Key Contributions</a:t>
            </a:r>
          </a:p>
          <a:p>
            <a:pPr/>
            <a:r>
              <a:t>Design a multi-phase pipeline from documentation to executable Playwright tests.</a:t>
            </a:r>
          </a:p>
          <a:p>
            <a:pPr/>
            <a:r>
              <a:t>Implement an AI-agent architecture with specialized prompts and tools.</a:t>
            </a:r>
          </a:p>
          <a:p>
            <a:pPr/>
            <a:r>
              <a:t>Generate and validate tests on the Auto-GPT web interface using Playwright CLI.</a:t>
            </a:r>
          </a:p>
          <a:p>
            <a:pPr/>
            <a:r>
              <a:t>Provide quantitative results for document generation and model performance experimentation.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and Contributions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Multi-Phase Test Generation Pipeline</a:t>
            </a:r>
          </a:p>
          <a:p>
            <a:pPr/>
            <a:r>
              <a:t>Phase 1: Documentation analysis and representation decision.</a:t>
            </a:r>
          </a:p>
          <a:p>
            <a:pPr/>
            <a:r>
              <a:t>Phase 2: Representation construction (Mermaid diagrams, Gherkin, traceability tables).</a:t>
            </a:r>
          </a:p>
          <a:p>
            <a:pPr/>
            <a:r>
              <a:t>Phase 3: Representation-to-Playwright test generation via AI agents.</a:t>
            </a:r>
          </a:p>
          <a:p>
            <a:pPr/>
            <a:r>
              <a:t>Phase 4: Execution, coverage analysis, and reporting.</a:t>
            </a:r>
          </a:p>
          <a:p>
            <a:pPr/>
            <a:r>
              <a:t>Separation of concerns: planning, representation, generation, execution, reporting.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Multi-Phase Pipeline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VS Code + GitHub Copilot Agents for Structured Test Generation</a:t>
            </a:r>
          </a:p>
          <a:p>
            <a:pPr/>
            <a:r>
              <a:t>No dedicated framework; implemented as prompt files called in sequence.</a:t>
            </a:r>
          </a:p>
          <a:p>
            <a:pPr/>
            <a:r>
              <a:t>Hierarchical prompts across agent, phase, and task levels (Agent.md, prompt.md, instructions.md).</a:t>
            </a:r>
          </a:p>
          <a:p>
            <a:pPr/>
            <a:r>
              <a:t>prompt.md defines prompts and tool access per agent.</a:t>
            </a:r>
          </a:p>
          <a:p>
            <a:pPr/>
            <a:r>
              <a:t>Shared environment: markdown artefacts.</a:t>
            </a:r>
          </a:p>
          <a:p>
            <a:pPr/>
            <a:r>
              <a:t>Explicit tools: file I/O, search, web fetch, Playwright exploration, task tracking.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Agent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Context Management and Tools</a:t>
            </a:r>
          </a:p>
          <a:p>
            <a:pPr/>
            <a:r>
              <a:t>Shared environment: markdown artefacts.</a:t>
            </a:r>
          </a:p>
          <a:p>
            <a:pPr/>
            <a:r>
              <a:t>Explicit tools: file I/O, search, web fetch, Playwright exploration, task tracking.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Agent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Prompt Design as Encoded Methodology</a:t>
            </a:r>
          </a:p>
          <a:p>
            <a:pPr/>
            <a:r>
              <a:t>Prompts specify roles (e.g., Senior QA Architect, Formal Modeling Engineer).</a:t>
            </a:r>
          </a:p>
          <a:p>
            <a:pPr/>
            <a:r>
              <a:t>Gated and phased prompting.</a:t>
            </a:r>
          </a:p>
          <a:p>
            <a:pPr/>
            <a:r>
              <a:t>Iterative process works when a strong baseline exists.</a:t>
            </a:r>
          </a:p>
          <a:p>
            <a:pPr/>
            <a:r>
              <a:t>Prompts encode constraints (mandatory checks, forbidden shortcuts).</a:t>
            </a:r>
          </a:p>
          <a:p>
            <a:pPr/>
            <a:r>
              <a:t>Task tracking and tool calls reduce hallucinations and improve traceability.</a:t>
            </a:r>
          </a:p>
          <a:p>
            <a:pPr/>
            <a:r>
              <a:t>Subagents enforce quality standards and validation rules.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Design Philosophy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From Documentation to Formalized Representations</a:t>
            </a:r>
          </a:p>
          <a:p>
            <a:pPr/>
            <a:r>
              <a:t>Document -&gt; Analysis -&gt; Representation document.</a:t>
            </a:r>
          </a:p>
          <a:p>
            <a:pPr/>
            <a:r>
              <a:t>Analysis decides best representation per section (state diagram, sequence diagram, flowchart, Gherkin, traceability table).</a:t>
            </a:r>
          </a:p>
          <a:p>
            <a:pPr/>
            <a:r>
              <a:t>Context management with controlled internet research support.</a:t>
            </a:r>
          </a:p>
          <a:p>
            <a:pPr/>
            <a:r>
              <a:t>Outputs include state diagrams, sequence diagrams, flowcharts, Gherkin, and traceability tables.</a:t>
            </a:r>
          </a:p>
          <a:p>
            <a:pPr/>
            <a:r>
              <a:t>Unique IDs and explicit links to documentation sections.</a:t>
            </a:r>
          </a:p>
          <a:p>
            <a:pPr/>
            <a:r>
              <a:t>Designed for test derivation, coverage reasoning, reuse, and review.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Representation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Example visuals: state diagram and Gherkin scenarios generated from a specific documentation section.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Representation Layer - Example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Representation-Driven, Empirically Grounded Playwright Tests</a:t>
            </a:r>
          </a:p>
          <a:p>
            <a:pPr/>
            <a:r>
              <a:t>Resources: existing test suite and previous representations.</a:t>
            </a:r>
          </a:p>
          <a:p>
            <a:pPr/>
            <a:r>
              <a:t>Tests are derived after live exploration with playwright-cli to improve pass rates.</a:t>
            </a:r>
          </a:p>
          <a:p>
            <a:pPr/>
            <a:r>
              <a:t>Every action is backed by captured code snippets and snapshots.</a:t>
            </a:r>
          </a:p>
          <a:p>
            <a:pPr/>
            <a:r>
              <a:t>Assertions are guided by observed DOM, network, and console behavior.</a:t>
            </a:r>
          </a:p>
          <a:p>
            <a:pPr/>
            <a:r>
              <a:t>Resulting tests are deterministic, infrastructure-aligned, and replayable.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Playwright Test Generation - 1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Representation-Driven, Empirically Grounded Playwright Tests</a:t>
            </a:r>
          </a:p>
          <a:p>
            <a:pPr/>
            <a:r>
              <a:t>Iteration 1: representation -&gt; test cases -&gt; healing phase: poor results.</a:t>
            </a:r>
          </a:p>
          <a:p>
            <a:pPr/>
            <a:r>
              <a:t>Iteration 2: representation -&gt; Playwright-cli exploration -&gt; test cases -&gt; healing: better results.</a:t>
            </a:r>
          </a:p>
          <a:p>
            <a:pPr/>
            <a:r>
              <a:t>Iteration 3: representation -&gt; exploration -&gt; learned patterns -&gt; test cases -&gt; all tests pass: best results.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Empirical Playwright Test Generation - 2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Experimental Infrastructure on Auto-GPT Platform</a:t>
            </a:r>
          </a:p>
          <a:p>
            <a:pPr/>
            <a:r>
              <a:t>Auto-GPT web UI with no-code agent-builder workflows.</a:t>
            </a:r>
          </a:p>
          <a:p>
            <a:pPr/>
            <a:r>
              <a:t>Docker-based setup.</a:t>
            </a:r>
          </a:p>
          <a:p>
            <a:pPr/>
            <a:r>
              <a:t>Existing Playwright and Pytest suites.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Infrastructure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 Generation Outcomes and Coverage</a:t>
            </a:r>
          </a:p>
          <a:p>
            <a:pPr/>
            <a:r>
              <a:t>Number of scenarios modeled and tests generated (happy, negative, boundary).</a:t>
            </a:r>
          </a:p>
          <a:p>
            <a:pPr/>
            <a:r>
              <a:t>Coverage metrics by functional areas, flows, or branches.</a:t>
            </a:r>
          </a:p>
          <a:p>
            <a:pPr/>
            <a:r>
              <a:t>Execution statistics: passes, failures, blocked tests.</a:t>
            </a:r>
          </a:p>
          <a:p>
            <a:pPr/>
            <a:r>
              <a:t>Key findings from the evaluation.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Outcomes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Categorization: selector errors, state/precondition failures, auth/infrastructure issues, logic errors.</a:t>
            </a:r>
          </a:p>
          <a:p>
            <a:pPr/>
            <a:r>
              <a:t>Map failures back to representation and documentation gaps.</a:t>
            </a:r>
          </a:p>
          <a:p>
            <a:pPr/>
            <a:r>
              <a:t>Identify fragile assumptions and ambiguous documentation.</a:t>
            </a:r>
          </a:p>
          <a:p>
            <a:pPr/>
            <a:r>
              <a:t>Show pipeline ability to surface documentation-implementation mismatches.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Between Different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My Learnings</a:t>
            </a:r>
          </a:p>
          <a:p>
            <a:pPr/>
            <a:r>
              <a:t>LLMs generate executable integration tests when constrained by formal representations and empirical exploration.</a:t>
            </a:r>
          </a:p>
          <a:p>
            <a:pPr/>
            <a:r>
              <a:t>LLMs are increasingly strong at multi-step reasoning when properly prompted.</a:t>
            </a:r>
          </a:p>
          <a:p>
            <a:pPr/>
            <a:r>
              <a:t>Hallucinated tests not grounded in system behavior were not observed.</a:t>
            </a:r>
          </a:p>
          <a:p>
            <a:pPr/>
            <a:r>
              <a:t>Subagent-based quality checks enforce standards better than self-regulatory prompting.</a:t>
            </a:r>
          </a:p>
          <a:p>
            <a:pPr/>
            <a:r>
              <a:t>Process-encoded prompts improve determinism and reduce hallucinations.</a:t>
            </a:r>
          </a:p>
          <a:p>
            <a:pPr/>
            <a:r>
              <a:t>Contributions: methodology, architecture, implementation, empirical evaluation.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and Contributions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OpenAPI-driven API testing can be improved by implementing reinforcement and expert-informed algorithms in code, not only prompts.</a:t>
            </a:r>
          </a:p>
          <a:p>
            <a:pPr/>
            <a:r>
              <a:t>Model complex systems while building a knowledge graph during exploration of the system under test.</a:t>
            </a:r>
          </a:p>
          <a:p>
            <a:pPr/>
            <a:r>
              <a:t>Extend framework to security testing for SDVs using documentation, observed behavior, and known vulnerabilities.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Conclusions, Impact, and Future 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_Stuttgart">
  <a:themeElements>
    <a:clrScheme name="UNI COLO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9388" indent="-179388"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 Vorlage International_16zu10.potx" id="{EEF73C58-E8FD-4D51-872B-41F250AD6A62}" vid="{DEDCFEFF-E63B-42F1-9341-A933EFF6A357}"/>
    </a:ext>
  </a:extLst>
</a:theme>
</file>

<file path=ppt/theme/theme2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 Vorlage International_16zu10</Template>
  <TotalTime>0</TotalTime>
  <Words>84</Words>
  <Application>Microsoft Office PowerPoint</Application>
  <PresentationFormat>On-screen Show (16:10)</PresentationFormat>
  <Paragraphs>29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Uni_Stuttgart</vt:lpstr>
      <vt:lpstr>Thesis Title (as specified in data base)</vt:lpstr>
      <vt:lpstr>Motivation</vt:lpstr>
      <vt:lpstr>Agenda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2017-05-26T12:23:14Z</dcterms:created>
  <dcterms:modified xsi:type="dcterms:W3CDTF">2026-02-21T17:33:47Z</dcterms:modified>
</cp:coreProperties>
</file>